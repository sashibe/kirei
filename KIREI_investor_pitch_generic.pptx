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3"/>
  </p:notesMasterIdLst>
  <p:sldIdLst>
    <p:sldId id="267" r:id="rId3"/>
    <p:sldId id="268" r:id="rId4"/>
    <p:sldId id="269" r:id="rId5"/>
    <p:sldId id="270" r:id="rId6"/>
    <p:sldId id="327" r:id="rId7"/>
    <p:sldId id="282" r:id="rId8"/>
    <p:sldId id="320" r:id="rId9"/>
    <p:sldId id="306" r:id="rId10"/>
    <p:sldId id="324" r:id="rId11"/>
    <p:sldId id="32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8" d="100"/>
          <a:sy n="188" d="100"/>
        </p:scale>
        <p:origin x="172" y="-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96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097280"/>
            <a:ext cx="5486400" cy="54864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C9A9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INVESTOR DECK  —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kern="0" spc="1400" dirty="0">
                <a:solidFill>
                  <a:srgbClr val="E0B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KIREI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2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スマートフォンを、毎日触れる「AI美容鏡」に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06240" y="3127248"/>
            <a:ext cx="731520" cy="274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474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C9A9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" y="3675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ビューティーテック × ヘルスケア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3474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C9A9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0" y="3675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完了・Phase 1 進行中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0" y="3474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C9A9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デモ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0" y="3675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sashibe.github.io/kirei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75308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kern="0" spc="3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  —  課題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女性は一日に何度も「鏡を確認」する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〜30代の女性にとって自分の状態を確認する行為は、生活に深く組み込まれた習慣です。既存の「歯科アプリ」「肌診断アプリ」の最大の課題はリテンション。チェックのためだけに開く習慣は定着しない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3252" y="2834640"/>
            <a:ext cx="2331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3252" y="2834640"/>
            <a:ext cx="54864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0412" y="289864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010412" y="347472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一日の平均的な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鏡・自撮り確認回数（推計）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6140" y="2834640"/>
            <a:ext cx="2331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6140" y="2834640"/>
            <a:ext cx="54864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3300" y="289864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543300" y="347472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コアターゲット層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（20〜30代女性）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39028" y="2834640"/>
            <a:ext cx="2331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39028" y="2834640"/>
            <a:ext cx="54864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6188" y="289864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∞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76188" y="347472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既存の鏡が提供できなかった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「気づき」の蓄積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9183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914400"/>
            <a:ext cx="4572000" cy="45720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kern="0" spc="3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  —  ソリューション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「鏡の代替」として設計された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AIビューティーミラー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KIREIは「歯科アプリ」でも「スキンケアアプリ」でもない。スマートフォンを「毎朝触れる鏡」そのものに置き換えることで、リテンション問題を構造的に解決する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578608" cy="1737360"/>
          </a:xfrm>
          <a:prstGeom prst="rect">
            <a:avLst/>
          </a:prstGeom>
          <a:solidFill>
            <a:srgbClr val="A855F7">
              <a:alpha val="12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980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49FF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2304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ミラー画面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602736"/>
            <a:ext cx="23042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カメラを向けると自動で肌分析。トーン・毛穴・くすみをリアルタイム評価。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45536" y="32918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82696" y="2743200"/>
            <a:ext cx="2578608" cy="1737360"/>
          </a:xfrm>
          <a:prstGeom prst="rect">
            <a:avLst/>
          </a:prstGeom>
          <a:solidFill>
            <a:srgbClr val="A855F7">
              <a:alpha val="18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27980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49FF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19856" y="3273552"/>
            <a:ext cx="2304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デンタルチェック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9856" y="3602736"/>
            <a:ext cx="23042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口元を映すと歯茎の色味・着色・歯並びを自動スコアリング。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79592" y="32918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16752" y="2743200"/>
            <a:ext cx="2578608" cy="1737360"/>
          </a:xfrm>
          <a:prstGeom prst="rect">
            <a:avLst/>
          </a:prstGeom>
          <a:solidFill>
            <a:srgbClr val="A855F7">
              <a:alpha val="24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27980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49FF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53912" y="3273552"/>
            <a:ext cx="2304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統合結果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53912" y="3602736"/>
            <a:ext cx="23042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 err="1">
                <a:solidFill>
                  <a:srgbClr val="BBBBB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肌スコア＋デンタルスコア表示。ケア提案・クリニック送客・コンテンツ誘導</a:t>
            </a:r>
            <a:r>
              <a:rPr lang="en-US" sz="1050" dirty="0">
                <a:solidFill>
                  <a:srgbClr val="BBBBB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34472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kern="0" spc="3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  —  ビジネスモデル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三層収益構造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無料ユーザー獲得 → 高単価送客 → データマネタイズの三層設計。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8229600" cy="676656"/>
          </a:xfrm>
          <a:prstGeom prst="rect">
            <a:avLst/>
          </a:prstGeom>
          <a:solidFill>
            <a:srgbClr val="F3E8FF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76272"/>
            <a:ext cx="64008" cy="6766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37744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DE0FC"/>
          </a:solidFill>
          <a:ln w="6350">
            <a:solidFill>
              <a:srgbClr val="C4A0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7744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2258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無料ビューティー／ヘルスチェック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AIスコアリング・キラリのコメント・履歴閲覧は完全無料。ユーザー獲得コストを最小化し、習慣化を確立する。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8229600" cy="676656"/>
          </a:xfrm>
          <a:prstGeom prst="rect">
            <a:avLst/>
          </a:prstGeom>
          <a:solidFill>
            <a:srgbClr val="FCE7F3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44368"/>
            <a:ext cx="64008" cy="67665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145536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AD3EB"/>
          </a:solidFill>
          <a:ln w="6350">
            <a:solidFill>
              <a:srgbClr val="F09A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4553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EC48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71600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提携歯科送客 ／ ケアグッズ EC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28269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デンタルスコアから提携クリニックへ予約誘導。自費診療（ホワイトニング・矯正）の高単価送客が主要収益源。アフィリエイト・直販も展開。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8229600" cy="676656"/>
          </a:xfrm>
          <a:prstGeom prst="rect">
            <a:avLst/>
          </a:prstGeom>
          <a:solidFill>
            <a:srgbClr val="FEF9EE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12464"/>
            <a:ext cx="64008" cy="67665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91363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5E7C8"/>
          </a:solidFill>
          <a:ln w="6350">
            <a:solidFill>
              <a:srgbClr val="D4A9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9136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C9A9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Layer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71600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匿名化データ分析・提供（将来）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0507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蓄積された口腔・肌データの匿名化集計値を製薬・化粧品・医療機器メーカーへ提供。個人情報保護法準拠設計を初期から実装。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608576"/>
            <a:ext cx="8229600" cy="475488"/>
          </a:xfrm>
          <a:prstGeom prst="rect">
            <a:avLst/>
          </a:prstGeom>
          <a:solidFill>
            <a:srgbClr val="F3E8FF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7258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自費診療クリニックへの送客は客単価が高く、収益モデルの核となる。提携候補との折衝を進めている。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8321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kern="0" spc="3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  —  市場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口腔ケア × 美容テック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交差する二大市場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3218688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国内歯科市場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566160"/>
            <a:ext cx="223113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約3.2兆円規模。自費診療比率が上昇しホワイトニング・矯正需要が拡大中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00" i="1" dirty="0">
                <a:solidFill>
                  <a:srgbClr val="9E8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厚労省「国民医療費の概況」令和4年</a:t>
            </a:r>
          </a:p>
        </p:txBody>
      </p:sp>
      <p:sp>
        <p:nvSpPr>
          <p:cNvPr id="9" name="Shape 7"/>
          <p:cNvSpPr/>
          <p:nvPr/>
        </p:nvSpPr>
        <p:spPr>
          <a:xfrm>
            <a:off x="3291840" y="269748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56432" y="3218688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国内スキンケア市場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56432" y="3566160"/>
            <a:ext cx="223113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1.5兆円超。スキンケアが最大比率を占めD2Cブランドも急増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00" i="1" dirty="0">
                <a:solidFill>
                  <a:srgbClr val="9E8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 矢野経済研究所「化粧品市場」2024</a:t>
            </a:r>
          </a:p>
        </p:txBody>
      </p:sp>
      <p:sp>
        <p:nvSpPr>
          <p:cNvPr id="13" name="Shape 11"/>
          <p:cNvSpPr/>
          <p:nvPr/>
        </p:nvSpPr>
        <p:spPr>
          <a:xfrm>
            <a:off x="6035040" y="269748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9632" y="3218688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ビューティーテック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9632" y="3566160"/>
            <a:ext cx="223113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AI肌診断・パーソナライズ提案のスタートアップが国内外で増加。スマホカメラ活用型が注目</a:t>
            </a:r>
            <a:endParaRPr lang="en-US" sz="1000" dirty="0"/>
          </a:p>
        </p:txBody>
      </p:sp>
      <p:pic>
        <p:nvPicPr>
          <p:cNvPr id="17" name="Graphic 17" descr="歯科アイコン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" y="2781300"/>
            <a:ext cx="381000" cy="381000"/>
          </a:xfrm>
          <a:prstGeom prst="rect">
            <a:avLst/>
          </a:prstGeom>
        </p:spPr>
      </p:pic>
      <p:pic>
        <p:nvPicPr>
          <p:cNvPr id="18" name="Graphic 18" descr="スキンケア市場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4400" y="2781300"/>
            <a:ext cx="381000" cy="381000"/>
          </a:xfrm>
          <a:prstGeom prst="rect">
            <a:avLst/>
          </a:prstGeom>
        </p:spPr>
      </p:pic>
      <p:pic>
        <p:nvPicPr>
          <p:cNvPr id="19" name="Graphic 19" descr="ビューティーテック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7600" y="27813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29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kern="0" spc="3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  —  競合優位性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なぜ、"KIREI" なのか？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単機能アプリとの最大の差別化は「習慣化の構造設計」。ユーザーの朝のルーティンに入ることで、離脱を構造的に防ぐ。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2743200"/>
          <a:ext cx="8229600" cy="2072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比較軸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729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歯科アプリ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Noto Sans JP" pitchFamily="34" charset="0"/>
                          <a:ea typeface="Noto Sans JP" pitchFamily="34" charset="-122"/>
                        </a:rPr>
                        <a:t>(HANOBiE, Dentafly等)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7291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肌診断アプリ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B0B0B0"/>
                          </a:solidFill>
                          <a:latin typeface="Noto Sans JP" pitchFamily="34" charset="0"/>
                          <a:ea typeface="Noto Sans JP" pitchFamily="34" charset="-122"/>
                        </a:rPr>
                        <a:t>(ZOZOGLASS, 肌パシャ等)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KIREI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日常利用動機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低い（チェックのみ）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中程度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高い（鏡代替）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複数機能統合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✗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✗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✓ 肌＋口腔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医療連携・送客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部分的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✗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✓ 提携歯科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コンテンツ連動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✗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✗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✓ 医師コンテンツ連動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キャラクター体験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✗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✗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✓ キラリ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234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457200"/>
            <a:ext cx="5486400" cy="548640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kern="0" spc="300" dirty="0">
                <a:solidFill>
                  <a:srgbClr val="B98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  —  パートナーシップ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医療の信頼性と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コンテンツの力を組み込む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KIREIは単独のアプリではなく、提携クリニック・医師コンテンツとのエコシステムとして設計されている。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578608"/>
            <a:ext cx="4023360" cy="23317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6974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自費診療クリニックとの送客連携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31546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9FF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高単価送客モデルの核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自費メニューを持つクリニックを提携先に組込。都内3院とパイロット協議中。高単価送客を実現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005840" cy="210312"/>
          </a:xfrm>
          <a:prstGeom prst="roundRect">
            <a:avLst>
              <a:gd name="adj" fmla="val 21739"/>
            </a:avLst>
          </a:prstGeom>
          <a:solidFill>
            <a:srgbClr val="9060C0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1480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B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送客手数料モデル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09344" y="4114800"/>
            <a:ext cx="822960" cy="210312"/>
          </a:xfrm>
          <a:prstGeom prst="roundRect">
            <a:avLst>
              <a:gd name="adj" fmla="val 21739"/>
            </a:avLst>
          </a:prstGeom>
          <a:solidFill>
            <a:srgbClr val="22833A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9344" y="4114800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EFA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候補折衝中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73168" y="2578608"/>
            <a:ext cx="4023360" cy="23317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2976" y="26974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医師YouTuberとのコンテンツ連動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22976" y="31546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9FF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医療的権威付けと相互送客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6048" y="338328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医師YouTuber（計50万人超）と連携し医療的権威付けと相互送客サイクルを構築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56048" y="4114800"/>
            <a:ext cx="1005840" cy="210312"/>
          </a:xfrm>
          <a:prstGeom prst="roundRect">
            <a:avLst>
              <a:gd name="adj" fmla="val 21739"/>
            </a:avLst>
          </a:prstGeom>
          <a:solidFill>
            <a:srgbClr val="9060C0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411480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B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コンテンツ連携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16752" y="4114800"/>
            <a:ext cx="822960" cy="210312"/>
          </a:xfrm>
          <a:prstGeom prst="roundRect">
            <a:avLst>
              <a:gd name="adj" fmla="val 21739"/>
            </a:avLst>
          </a:prstGeom>
          <a:solidFill>
            <a:srgbClr val="994466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4114800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A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医療監修</a:t>
            </a:r>
            <a:endParaRPr lang="en-US" sz="1100" dirty="0"/>
          </a:p>
        </p:txBody>
      </p:sp>
      <p:pic>
        <p:nvPicPr>
          <p:cNvPr id="25" name="Graphic 25" descr="クリニック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00" y="2717800"/>
            <a:ext cx="355600" cy="355600"/>
          </a:xfrm>
          <a:prstGeom prst="rect">
            <a:avLst/>
          </a:prstGeom>
        </p:spPr>
      </p:pic>
      <p:pic>
        <p:nvPicPr>
          <p:cNvPr id="26" name="Graphic 26" descr="YouTuberコンテンツ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3800" y="27178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92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kern="0" spc="3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  —  ロードマップ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段階的な価値実証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89788" y="217627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9788" y="2176272"/>
            <a:ext cx="1874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" y="2304288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0 — 完了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9516" y="2505456"/>
            <a:ext cx="1655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技術POC・プロトタイプ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9516" y="292608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WebRTCカメラ統合・HSV+RGB肌分析・デンタルスコアリングのPOC完成／デモ公開済み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9516" y="4032504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" y="403250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19756" y="217627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19756" y="2176272"/>
            <a:ext cx="1874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9484" y="2304288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1 — 進行中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29484" y="2505456"/>
            <a:ext cx="1655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MVP構築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29484" y="292608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Vite+React・MediaPipe・Capacitorによるアプリ化／初期提携候補との折衝も並行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29484" y="4032504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F3E8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9484" y="403250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進行中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49724" y="217627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9724" y="2176272"/>
            <a:ext cx="187452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9452" y="2304288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2 — 提携導入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9452" y="2505456"/>
            <a:ext cx="1655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提携歯科パイロット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9452" y="292608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提携歯科とのテスト送客・予約フォーム連携・医師コンテンツ連動を実装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9452" y="4032504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FEF9EE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9452" y="403250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計画中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79692" y="217627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9692" y="2176272"/>
            <a:ext cx="187452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9420" y="2304288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3 — スケール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89420" y="2505456"/>
            <a:ext cx="1655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KIREI SELECT/データ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89420" y="292608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ケアグッズEC立上げ・スコア履歴とトレンド分析・提携クリニック多拠点展開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89420" y="4032504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FEF9EE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9420" y="403250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計画中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22200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kern="0" spc="300" dirty="0">
                <a:solidFill>
                  <a:srgbClr val="A85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  —  技術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医療表現に準拠した設計思想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80060" y="20116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38428" y="21396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AI分析の現在地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2940" y="2487168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HSV/RGB肌色分析と照明正規化はPOCで実証済。MediaPipe FaceLandmarkerで精度向上を計画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40580" y="20116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98948" y="21396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医療表現ガイドライン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3460" y="2487168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「診断」「治療」等の医療用語は禁止。「チェック」「スコア」に統一し免責事項を必ず表示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" y="3593592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38428" y="3721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クロスプラットフォーム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" y="4069080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1はCapacitorでiOS/Android対応。Phase 3でiOSネイティブへ移行しTrueDepth Cameraを活用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40580" y="3593592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98948" y="3721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62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バックエンド・データ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3460" y="4069080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Supabase/Firebaseでスコア履歴を保存。匿名化フレームワークを設計しデータ活用に備える</a:t>
            </a:r>
            <a:endParaRPr lang="en-US" sz="1000" dirty="0"/>
          </a:p>
        </p:txBody>
      </p:sp>
      <p:pic>
        <p:nvPicPr>
          <p:cNvPr id="21" name="Graphic 21" descr="AI分析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2133600"/>
            <a:ext cx="279400" cy="279400"/>
          </a:xfrm>
          <a:prstGeom prst="rect">
            <a:avLst/>
          </a:prstGeom>
        </p:spPr>
      </p:pic>
      <p:pic>
        <p:nvPicPr>
          <p:cNvPr id="22" name="Graphic 22" descr="医療表現ガイドライン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400" y="2133600"/>
            <a:ext cx="279400" cy="279400"/>
          </a:xfrm>
          <a:prstGeom prst="rect">
            <a:avLst/>
          </a:prstGeom>
        </p:spPr>
      </p:pic>
      <p:pic>
        <p:nvPicPr>
          <p:cNvPr id="23" name="Graphic 23" descr="クロスプラットフォーム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" y="3721100"/>
            <a:ext cx="279400" cy="279400"/>
          </a:xfrm>
          <a:prstGeom prst="rect">
            <a:avLst/>
          </a:prstGeom>
        </p:spPr>
      </p:pic>
      <p:pic>
        <p:nvPicPr>
          <p:cNvPr id="24" name="Graphic 24" descr="バックエンド・データ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1400" y="37211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22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kern="0" spc="300" dirty="0">
                <a:solidFill>
                  <a:srgbClr val="B985F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  —  資金用途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次のマイルストーンへ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B0B0B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MVP完成・提携歯科パイロット・ユーザー獲得の初期検証を目的とした資金調達を検討しています。具体的な調達額・条件は別途ご相談ください。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" y="2761488"/>
            <a:ext cx="2578608" cy="1417320"/>
          </a:xfrm>
          <a:prstGeom prst="rect">
            <a:avLst/>
          </a:prstGeom>
          <a:solidFill>
            <a:srgbClr val="A855F7">
              <a:alpha val="14000"/>
            </a:srgbClr>
          </a:solidFill>
          <a:ln w="6350">
            <a:solidFill>
              <a:srgbClr val="884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323697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プロダクト開発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3529584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0B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MediaPipe統合・Capacitorビルド・アプリリリース準備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82696" y="2761488"/>
            <a:ext cx="2578608" cy="1417320"/>
          </a:xfrm>
          <a:prstGeom prst="rect">
            <a:avLst/>
          </a:prstGeom>
          <a:solidFill>
            <a:srgbClr val="A855F7">
              <a:alpha val="14000"/>
            </a:srgbClr>
          </a:solidFill>
          <a:ln w="6350">
            <a:solidFill>
              <a:srgbClr val="884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323697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提携歯科パイロット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7288" y="3529584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0B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提携クリニックとの送客フロー実装・KPI計測・改善サイクル確立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5896" y="2761488"/>
            <a:ext cx="2578608" cy="1417320"/>
          </a:xfrm>
          <a:prstGeom prst="rect">
            <a:avLst/>
          </a:prstGeom>
          <a:solidFill>
            <a:srgbClr val="A855F7">
              <a:alpha val="14000"/>
            </a:srgbClr>
          </a:solidFill>
          <a:ln w="6350">
            <a:solidFill>
              <a:srgbClr val="884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323697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初期ユーザー獲得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3529584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0B0B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医師コンテンツ連動・SNS施策で20〜30代女性へリーチ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solidFill>
            <a:srgbClr val="A855F7">
              <a:alpha val="16000"/>
            </a:srgbClr>
          </a:solidFill>
          <a:ln w="6350">
            <a:solidFill>
              <a:srgbClr val="884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074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0B4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プロトタイプデモ（Phase 0 完了版）  →  sashibe.github.io/kirei</a:t>
            </a:r>
            <a:endParaRPr lang="en-US" sz="1400" dirty="0"/>
          </a:p>
        </p:txBody>
      </p:sp>
      <p:pic>
        <p:nvPicPr>
          <p:cNvPr id="21" name="Graphic 21" descr="プロダクト開発アイコン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819400"/>
            <a:ext cx="355600" cy="355600"/>
          </a:xfrm>
          <a:prstGeom prst="rect">
            <a:avLst/>
          </a:prstGeom>
        </p:spPr>
      </p:pic>
      <p:pic>
        <p:nvPicPr>
          <p:cNvPr id="22" name="Graphic 22" descr="提携歯科パイロットアイコン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1700" y="2819400"/>
            <a:ext cx="355600" cy="355600"/>
          </a:xfrm>
          <a:prstGeom prst="rect">
            <a:avLst/>
          </a:prstGeom>
        </p:spPr>
      </p:pic>
      <p:pic>
        <p:nvPicPr>
          <p:cNvPr id="23" name="Graphic 23" descr="初期ユーザー獲得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4900" y="28194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07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74861041428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 panose="020F0302020204030204"/>
        <a:ea typeface="Noto Sans JP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 panose="020F0502020204030204"/>
        <a:ea typeface="Noto Sans JP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43B97E5-F338-41DE-BE8B-4CC8EC1C0823}">
  <we:reference id="wa200010001" version="1.0.0.1" store="ja-JP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542</Words>
  <Application>Microsoft Office PowerPoint</Application>
  <PresentationFormat>画面に合わせる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Noto Sans JP</vt:lpstr>
      <vt:lpstr>Arial</vt:lpstr>
      <vt:lpstr>Office Theme</vt:lpstr>
      <vt:lpstr>Office Theme [1774861041428]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KIREI — 投資家向け企画書</dc:title>
  <dc:subject>PptxGenJS Presentation</dc:subject>
  <dc:creator>PptxGenJS</dc:creator>
  <cp:lastModifiedBy>Satoshi Ashibe</cp:lastModifiedBy>
  <cp:revision>4</cp:revision>
  <dcterms:created xsi:type="dcterms:W3CDTF">2026-03-30T08:16:15Z</dcterms:created>
  <dcterms:modified xsi:type="dcterms:W3CDTF">2026-03-31T13:21:54Z</dcterms:modified>
</cp:coreProperties>
</file>