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7F4FD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パートナーシップ提案 — Confidential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1051560"/>
            <a:ext cx="8321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18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KIREI × MUSINSA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411480" y="2267712"/>
            <a:ext cx="164592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23957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B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顔から始まるK-beautyAIプラットフォーム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27432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パーソナルカラーでつなぐ新しいショッピング体験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3273552"/>
            <a:ext cx="2560320" cy="987552"/>
          </a:xfrm>
          <a:prstGeom prst="rect">
            <a:avLst>
              <a:gd name="adj" fmla="val 7407"/>
            </a:avLst>
          </a:prstGeom>
          <a:solidFill>
            <a:srgbClr val="F7F4FD"/>
          </a:solidFill>
          <a:ln w="12700">
            <a:solidFill>
              <a:srgbClr val="DDD5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3273552"/>
            <a:ext cx="256032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539496" y="3337560"/>
            <a:ext cx="23042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C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提案種別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39496" y="3566160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共同開発・公式アプリパートナーシップ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54680" y="3273552"/>
            <a:ext cx="2560320" cy="987552"/>
          </a:xfrm>
          <a:prstGeom prst="rect">
            <a:avLst>
              <a:gd name="adj" fmla="val 7407"/>
            </a:avLst>
          </a:prstGeom>
          <a:solidFill>
            <a:srgbClr val="F7F4FD"/>
          </a:solidFill>
          <a:ln w="12700">
            <a:solidFill>
              <a:srgbClr val="DDD5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54680" y="3273552"/>
            <a:ext cx="256032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3282696" y="3337560"/>
            <a:ext cx="23042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C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リリース市場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282696" y="3566160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韓国 → 日本 → グローバル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97880" y="3273552"/>
            <a:ext cx="2560320" cy="987552"/>
          </a:xfrm>
          <a:prstGeom prst="rect">
            <a:avLst>
              <a:gd name="adj" fmla="val 7407"/>
            </a:avLst>
          </a:prstGeom>
          <a:solidFill>
            <a:srgbClr val="F7F4FD"/>
          </a:solidFill>
          <a:ln w="12700">
            <a:solidFill>
              <a:srgbClr val="DDD5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97880" y="3273552"/>
            <a:ext cx="256032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6025896" y="3337560"/>
            <a:ext cx="23042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C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デモ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025896" y="3566160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sashibe.github.io/kirei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487375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MUSINSAが抱える課題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8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商品はある。</a:t>
            </a:r>
            <a:endParaRPr lang="en-US" sz="2800" dirty="0"/>
          </a:p>
          <a:p>
            <a:pPr indent="0" marL="0">
              <a:buNone/>
            </a:pPr>
            <a:r>
              <a:rPr lang="en-US" sz="28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選ぶ基準がない。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5361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MUSINSAビューティーは急成長中だ。しかし商品数が増えるほど「自分に合うもの」を探すのは難しくなる。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965960"/>
            <a:ext cx="4069080" cy="1572768"/>
          </a:xfrm>
          <a:prstGeom prst="rect">
            <a:avLst>
              <a:gd name="adj" fmla="val 5814"/>
            </a:avLst>
          </a:prstGeom>
          <a:solidFill>
            <a:srgbClr val="F7F4FD"/>
          </a:solidFill>
          <a:ln w="12700">
            <a:solidFill>
              <a:srgbClr val="DDD5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965960"/>
            <a:ext cx="406908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Shape 6"/>
          <p:cNvSpPr/>
          <p:nvPr/>
        </p:nvSpPr>
        <p:spPr>
          <a:xfrm>
            <a:off x="576072" y="2130552"/>
            <a:ext cx="274320" cy="274320"/>
          </a:xfrm>
          <a:prstGeom prst="ellipse">
            <a:avLst/>
          </a:prstGeom>
          <a:solidFill>
            <a:srgbClr val="7C3AED">
              <a:alpha val="3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41832" y="2093976"/>
            <a:ext cx="3410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色選びの不確実性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76072" y="2478024"/>
            <a:ext cx="3776472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B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リップ・ファンデ・アイシャドウは画面で見ても自分に似合うかわからない。購入後の失望が返品・低評価につながる。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965960"/>
            <a:ext cx="4069080" cy="1572768"/>
          </a:xfrm>
          <a:prstGeom prst="rect">
            <a:avLst>
              <a:gd name="adj" fmla="val 5814"/>
            </a:avLst>
          </a:prstGeom>
          <a:solidFill>
            <a:srgbClr val="F7F4FD"/>
          </a:solidFill>
          <a:ln w="12700">
            <a:solidFill>
              <a:srgbClr val="DDD5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965960"/>
            <a:ext cx="4069080" cy="45720"/>
          </a:xfrm>
          <a:prstGeom prst="rect">
            <a:avLst/>
          </a:prstGeom>
          <a:solidFill>
            <a:srgbClr val="C026D3"/>
          </a:solidFill>
          <a:ln/>
        </p:spPr>
      </p:sp>
      <p:sp>
        <p:nvSpPr>
          <p:cNvPr id="13" name="Shape 11"/>
          <p:cNvSpPr/>
          <p:nvPr/>
        </p:nvSpPr>
        <p:spPr>
          <a:xfrm>
            <a:off x="4828032" y="2130552"/>
            <a:ext cx="274320" cy="274320"/>
          </a:xfrm>
          <a:prstGeom prst="ellipse">
            <a:avLst/>
          </a:prstGeom>
          <a:solidFill>
            <a:srgbClr val="C026D3">
              <a:alpha val="3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193792" y="2093976"/>
            <a:ext cx="3410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パーソナルカラー検索の不在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28032" y="2478024"/>
            <a:ext cx="3776472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B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Z世代でパーソナルカラー認知は急拡大しているが、プラットフォーム側の対応はまだタグ水準に留まっている。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3685032"/>
            <a:ext cx="4069080" cy="1572768"/>
          </a:xfrm>
          <a:prstGeom prst="rect">
            <a:avLst>
              <a:gd name="adj" fmla="val 5814"/>
            </a:avLst>
          </a:prstGeom>
          <a:solidFill>
            <a:srgbClr val="F7F4FD"/>
          </a:solidFill>
          <a:ln w="12700">
            <a:solidFill>
              <a:srgbClr val="DDD5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3685032"/>
            <a:ext cx="4069080" cy="457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18" name="Shape 16"/>
          <p:cNvSpPr/>
          <p:nvPr/>
        </p:nvSpPr>
        <p:spPr>
          <a:xfrm>
            <a:off x="576072" y="3849624"/>
            <a:ext cx="274320" cy="274320"/>
          </a:xfrm>
          <a:prstGeom prst="ellipse">
            <a:avLst/>
          </a:prstGeom>
          <a:solidFill>
            <a:srgbClr val="047857">
              <a:alpha val="3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941832" y="3813048"/>
            <a:ext cx="3410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競合との差別化不足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76072" y="4197096"/>
            <a:ext cx="3776472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B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オリーブヤング等との差別化は商品数や価格だけでは限界がある。体験価値で勝負するレイヤーが必要だ。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3685032"/>
            <a:ext cx="4069080" cy="1572768"/>
          </a:xfrm>
          <a:prstGeom prst="rect">
            <a:avLst>
              <a:gd name="adj" fmla="val 5814"/>
            </a:avLst>
          </a:prstGeom>
          <a:solidFill>
            <a:srgbClr val="F7F4FD"/>
          </a:solidFill>
          <a:ln w="12700">
            <a:solidFill>
              <a:srgbClr val="DDD5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3685032"/>
            <a:ext cx="4069080" cy="45720"/>
          </a:xfrm>
          <a:prstGeom prst="rect">
            <a:avLst/>
          </a:prstGeom>
          <a:solidFill>
            <a:srgbClr val="92660A"/>
          </a:solidFill>
          <a:ln/>
        </p:spPr>
      </p:sp>
      <p:sp>
        <p:nvSpPr>
          <p:cNvPr id="23" name="Shape 21"/>
          <p:cNvSpPr/>
          <p:nvPr/>
        </p:nvSpPr>
        <p:spPr>
          <a:xfrm>
            <a:off x="4828032" y="3849624"/>
            <a:ext cx="274320" cy="274320"/>
          </a:xfrm>
          <a:prstGeom prst="ellipse">
            <a:avLst/>
          </a:prstGeom>
          <a:solidFill>
            <a:srgbClr val="92660A">
              <a:alpha val="3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193792" y="3813048"/>
            <a:ext cx="3410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再訪動機の不足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28032" y="4197096"/>
            <a:ext cx="3776472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B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購買目的以外の滞在を生むコンテンツがなければ、アプリは「買うときだけ開くもの」から抜け出せない。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KIREIが解決すること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8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顔をスキャンすると</a:t>
            </a:r>
            <a:endParaRPr lang="en-US" sz="2800" dirty="0"/>
          </a:p>
          <a:p>
            <a:pPr indent="0" marL="0">
              <a:buNone/>
            </a:pPr>
            <a:r>
              <a:rPr lang="en-US" sz="28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自分に合うものだけ見える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5361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KIREIはスマートフォンのインカメラをAIビューティーミラーに変えるアプリ。肌分析 → パーソナルカラー → 商品提案を一本の流れで繋ぐ。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965960"/>
            <a:ext cx="1938528" cy="1572768"/>
          </a:xfrm>
          <a:prstGeom prst="rect">
            <a:avLst>
              <a:gd name="adj" fmla="val 5814"/>
            </a:avLst>
          </a:prstGeom>
          <a:solidFill>
            <a:srgbClr val="F7F4FD"/>
          </a:solidFill>
          <a:ln w="12700">
            <a:solidFill>
              <a:srgbClr val="DDD5F5"/>
            </a:solidFill>
            <a:prstDash val="solid"/>
          </a:ln>
          <a:effectLst>
            <a:outerShdw sx="100000" sy="100000" kx="0" ky="0" algn="bl" rotWithShape="0" blurRad="76200" dist="25400" dir="8100000">
              <a:srgbClr val="4B407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965960"/>
            <a:ext cx="1938528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Shape 6"/>
          <p:cNvSpPr/>
          <p:nvPr/>
        </p:nvSpPr>
        <p:spPr>
          <a:xfrm>
            <a:off x="539496" y="2048256"/>
            <a:ext cx="347472" cy="34747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539496" y="20482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21208" y="245059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ミラー画面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21208" y="2834640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B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カメラを向けると肌を自動分析。水分・キメ・明るさをリアルタイムスコアリング。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359152" y="2578608"/>
            <a:ext cx="100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1965960"/>
            <a:ext cx="1938528" cy="1572768"/>
          </a:xfrm>
          <a:prstGeom prst="rect">
            <a:avLst>
              <a:gd name="adj" fmla="val 5814"/>
            </a:avLst>
          </a:prstGeom>
          <a:solidFill>
            <a:srgbClr val="F7F4FD"/>
          </a:solidFill>
          <a:ln w="12700">
            <a:solidFill>
              <a:srgbClr val="DDD5F5"/>
            </a:solidFill>
            <a:prstDash val="solid"/>
          </a:ln>
          <a:effectLst>
            <a:outerShdw sx="100000" sy="100000" kx="0" ky="0" algn="bl" rotWithShape="0" blurRad="76200" dist="25400" dir="8100000">
              <a:srgbClr val="4B407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50592" y="1965960"/>
            <a:ext cx="1938528" cy="4572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5" name="Shape 13"/>
          <p:cNvSpPr/>
          <p:nvPr/>
        </p:nvSpPr>
        <p:spPr>
          <a:xfrm>
            <a:off x="2578608" y="2048256"/>
            <a:ext cx="347472" cy="347472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16" name="Text 14"/>
          <p:cNvSpPr/>
          <p:nvPr/>
        </p:nvSpPr>
        <p:spPr>
          <a:xfrm>
            <a:off x="2578608" y="20482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560320" y="245059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パーソナルカラー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60320" y="2834640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B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肌・瞳・唇の色相からスプリング/サマー/オータム/ウィンターを判定。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398264" y="2578608"/>
            <a:ext cx="100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89704" y="1965960"/>
            <a:ext cx="1938528" cy="1572768"/>
          </a:xfrm>
          <a:prstGeom prst="rect">
            <a:avLst>
              <a:gd name="adj" fmla="val 5814"/>
            </a:avLst>
          </a:prstGeom>
          <a:solidFill>
            <a:srgbClr val="F7F4FD"/>
          </a:solidFill>
          <a:ln w="12700">
            <a:solidFill>
              <a:srgbClr val="DDD5F5"/>
            </a:solidFill>
            <a:prstDash val="solid"/>
          </a:ln>
          <a:effectLst>
            <a:outerShdw sx="100000" sy="100000" kx="0" ky="0" algn="bl" rotWithShape="0" blurRad="76200" dist="25400" dir="8100000">
              <a:srgbClr val="4B407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489704" y="1965960"/>
            <a:ext cx="1938528" cy="45720"/>
          </a:xfrm>
          <a:prstGeom prst="rect">
            <a:avLst/>
          </a:prstGeom>
          <a:solidFill>
            <a:srgbClr val="C026D3"/>
          </a:solidFill>
          <a:ln/>
        </p:spPr>
      </p:sp>
      <p:sp>
        <p:nvSpPr>
          <p:cNvPr id="22" name="Shape 20"/>
          <p:cNvSpPr/>
          <p:nvPr/>
        </p:nvSpPr>
        <p:spPr>
          <a:xfrm>
            <a:off x="4617720" y="2048256"/>
            <a:ext cx="347472" cy="347472"/>
          </a:xfrm>
          <a:prstGeom prst="ellipse">
            <a:avLst/>
          </a:prstGeom>
          <a:solidFill>
            <a:srgbClr val="C026D3"/>
          </a:solidFill>
          <a:ln/>
        </p:spPr>
      </p:sp>
      <p:sp>
        <p:nvSpPr>
          <p:cNvPr id="23" name="Text 21"/>
          <p:cNvSpPr/>
          <p:nvPr/>
        </p:nvSpPr>
        <p:spPr>
          <a:xfrm>
            <a:off x="4617720" y="20482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99432" y="245059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ARバーチャルメイク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99432" y="2834640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B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リップ・チーク・アイシャドウをリアルタイムで顔に合成。買う前に試す体験。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37376" y="2578608"/>
            <a:ext cx="100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528816" y="1965960"/>
            <a:ext cx="1938528" cy="1572768"/>
          </a:xfrm>
          <a:prstGeom prst="rect">
            <a:avLst>
              <a:gd name="adj" fmla="val 5814"/>
            </a:avLst>
          </a:prstGeom>
          <a:solidFill>
            <a:srgbClr val="F7F4FD"/>
          </a:solidFill>
          <a:ln w="12700">
            <a:solidFill>
              <a:srgbClr val="DDD5F5"/>
            </a:solidFill>
            <a:prstDash val="solid"/>
          </a:ln>
          <a:effectLst>
            <a:outerShdw sx="100000" sy="100000" kx="0" ky="0" algn="bl" rotWithShape="0" blurRad="76200" dist="25400" dir="8100000">
              <a:srgbClr val="4B407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528816" y="1965960"/>
            <a:ext cx="1938528" cy="45720"/>
          </a:xfrm>
          <a:prstGeom prst="rect">
            <a:avLst/>
          </a:prstGeom>
          <a:solidFill>
            <a:srgbClr val="9D174D"/>
          </a:solidFill>
          <a:ln/>
        </p:spPr>
      </p:sp>
      <p:sp>
        <p:nvSpPr>
          <p:cNvPr id="29" name="Shape 27"/>
          <p:cNvSpPr/>
          <p:nvPr/>
        </p:nvSpPr>
        <p:spPr>
          <a:xfrm>
            <a:off x="6656832" y="2048256"/>
            <a:ext cx="347472" cy="347472"/>
          </a:xfrm>
          <a:prstGeom prst="ellipse">
            <a:avLst/>
          </a:prstGeom>
          <a:solidFill>
            <a:srgbClr val="9D174D"/>
          </a:solidFill>
          <a:ln/>
        </p:spPr>
      </p:sp>
      <p:sp>
        <p:nvSpPr>
          <p:cNvPr id="30" name="Text 28"/>
          <p:cNvSpPr/>
          <p:nvPr/>
        </p:nvSpPr>
        <p:spPr>
          <a:xfrm>
            <a:off x="6656832" y="20482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638544" y="245059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MUSINSA直結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638544" y="2834640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B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パーソナルカラー×肌タイプに合う商品をMUSINSAビューティーから直接提案。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11480" y="3657600"/>
            <a:ext cx="8321040" cy="621792"/>
          </a:xfrm>
          <a:prstGeom prst="rect">
            <a:avLst>
              <a:gd name="adj" fmla="val 14706"/>
            </a:avLst>
          </a:prstGeom>
          <a:solidFill>
            <a:srgbClr val="EDE8FA"/>
          </a:solidFill>
          <a:ln w="12700">
            <a:solidFill>
              <a:srgbClr val="DDD5F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1480" y="3657600"/>
            <a:ext cx="54864" cy="62179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5" name="Text 33"/>
          <p:cNvSpPr/>
          <p:nvPr/>
        </p:nvSpPr>
        <p:spPr>
          <a:xfrm>
            <a:off x="594360" y="3657600"/>
            <a:ext cx="8046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鏡 → 肌チェック → AR体験 → 購買が一セッション内で完結する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使用シナリオ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3474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8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電車の中で</a:t>
            </a:r>
            <a:endParaRPr lang="en-US" sz="2600" dirty="0"/>
          </a:p>
          <a:p>
            <a:pPr indent="0" marL="0">
              <a:buNone/>
            </a:pPr>
            <a:r>
              <a:rPr lang="en-US" sz="26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3分で完結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554480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4B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ユーザーは「アプリを使おう」と思っていない。鏡を開いただけなのに、買い物まで終わっている。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60520" y="530352"/>
            <a:ext cx="4663440" cy="566928"/>
          </a:xfrm>
          <a:prstGeom prst="rect">
            <a:avLst>
              <a:gd name="adj" fmla="val 12903"/>
            </a:avLst>
          </a:prstGeom>
          <a:solidFill>
            <a:srgbClr val="F7F4FD"/>
          </a:solidFill>
          <a:ln w="12700">
            <a:solidFill>
              <a:srgbClr val="DDD5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60520" y="530352"/>
            <a:ext cx="45720" cy="5669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4279392" y="594360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0秒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92040" y="576072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8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鏡アプリを開く — KIREIが始まる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635240" y="685800"/>
            <a:ext cx="1115568" cy="246888"/>
          </a:xfrm>
          <a:prstGeom prst="rect">
            <a:avLst>
              <a:gd name="adj" fmla="val 44444"/>
            </a:avLst>
          </a:prstGeom>
          <a:solidFill>
            <a:srgbClr val="EDE8FA"/>
          </a:solidFill>
          <a:ln w="12700">
            <a:solidFill>
              <a:srgbClr val="DDD5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35240" y="685800"/>
            <a:ext cx="11155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習慣の入口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160520" y="1143000"/>
            <a:ext cx="46634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DD5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60520" y="1143000"/>
            <a:ext cx="45720" cy="5669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4279392" y="1207008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10秒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92040" y="118872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8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キラリ:「今日は湿度38%、潤いリップが似合いそう♪」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635240" y="1298448"/>
            <a:ext cx="1115568" cy="246888"/>
          </a:xfrm>
          <a:prstGeom prst="rect">
            <a:avLst>
              <a:gd name="adj" fmla="val 44444"/>
            </a:avLst>
          </a:prstGeom>
          <a:solidFill>
            <a:srgbClr val="EDE8FA"/>
          </a:solidFill>
          <a:ln w="12700">
            <a:solidFill>
              <a:srgbClr val="DDD5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35240" y="1298448"/>
            <a:ext cx="11155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個人化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160520" y="1755648"/>
            <a:ext cx="4663440" cy="566928"/>
          </a:xfrm>
          <a:prstGeom prst="rect">
            <a:avLst>
              <a:gd name="adj" fmla="val 12903"/>
            </a:avLst>
          </a:prstGeom>
          <a:solidFill>
            <a:srgbClr val="F7F4FD"/>
          </a:solidFill>
          <a:ln w="12700">
            <a:solidFill>
              <a:srgbClr val="DDD5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60520" y="1755648"/>
            <a:ext cx="45720" cy="5669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4279392" y="1819656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20秒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92040" y="1801368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8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画面タップ → 肌チェック → スコア表示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635240" y="1911096"/>
            <a:ext cx="1115568" cy="246888"/>
          </a:xfrm>
          <a:prstGeom prst="rect">
            <a:avLst>
              <a:gd name="adj" fmla="val 44444"/>
            </a:avLst>
          </a:prstGeom>
          <a:solidFill>
            <a:srgbClr val="EDE8FA"/>
          </a:solidFill>
          <a:ln w="12700">
            <a:solidFill>
              <a:srgbClr val="DDD5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35240" y="1911096"/>
            <a:ext cx="11155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チェック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160520" y="2368296"/>
            <a:ext cx="46634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DD5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60520" y="2368296"/>
            <a:ext cx="45720" cy="5669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4279392" y="2432304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40秒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92040" y="2414016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8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パーソナルカラー基準ARリップ — 顔にリアルタイム合成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635240" y="2523744"/>
            <a:ext cx="1115568" cy="246888"/>
          </a:xfrm>
          <a:prstGeom prst="rect">
            <a:avLst>
              <a:gd name="adj" fmla="val 44444"/>
            </a:avLst>
          </a:prstGeom>
          <a:solidFill>
            <a:srgbClr val="EDE8FA"/>
          </a:solidFill>
          <a:ln w="12700">
            <a:solidFill>
              <a:srgbClr val="DDD5F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35240" y="2523744"/>
            <a:ext cx="11155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AR体験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160520" y="2980944"/>
            <a:ext cx="4663440" cy="566928"/>
          </a:xfrm>
          <a:prstGeom prst="rect">
            <a:avLst>
              <a:gd name="adj" fmla="val 12903"/>
            </a:avLst>
          </a:prstGeom>
          <a:solidFill>
            <a:srgbClr val="F7F4FD"/>
          </a:solidFill>
          <a:ln w="12700">
            <a:solidFill>
              <a:srgbClr val="DDD5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60520" y="2980944"/>
            <a:ext cx="45720" cy="5669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2" name="Text 30"/>
          <p:cNvSpPr/>
          <p:nvPr/>
        </p:nvSpPr>
        <p:spPr>
          <a:xfrm>
            <a:off x="4279392" y="3044952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60秒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92040" y="3026664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8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「MUSINSAで見る」タップ → 商品ページへ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635240" y="3136392"/>
            <a:ext cx="1115568" cy="246888"/>
          </a:xfrm>
          <a:prstGeom prst="rect">
            <a:avLst>
              <a:gd name="adj" fmla="val 44444"/>
            </a:avLst>
          </a:prstGeom>
          <a:solidFill>
            <a:srgbClr val="EDE8FA"/>
          </a:solidFill>
          <a:ln w="12700">
            <a:solidFill>
              <a:srgbClr val="DDD5F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35240" y="3136392"/>
            <a:ext cx="11155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購買転換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160520" y="3593592"/>
            <a:ext cx="46634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DD5F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160520" y="3593592"/>
            <a:ext cx="45720" cy="5669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8" name="Text 36"/>
          <p:cNvSpPr/>
          <p:nvPr/>
        </p:nvSpPr>
        <p:spPr>
          <a:xfrm>
            <a:off x="4279392" y="3657600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90秒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92040" y="3639312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8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購入後また鏡に戻る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635240" y="3749040"/>
            <a:ext cx="1115568" cy="246888"/>
          </a:xfrm>
          <a:prstGeom prst="rect">
            <a:avLst>
              <a:gd name="adj" fmla="val 44444"/>
            </a:avLst>
          </a:prstGeom>
          <a:solidFill>
            <a:srgbClr val="EDE8FA"/>
          </a:solidFill>
          <a:ln w="12700">
            <a:solidFill>
              <a:srgbClr val="DDD5F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35240" y="3749040"/>
            <a:ext cx="11155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離脱なし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MUSINSAへの価値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8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KIREIがMUSINSAに</a:t>
            </a:r>
            <a:endParaRPr lang="en-US" sz="2800" dirty="0"/>
          </a:p>
          <a:p>
            <a:pPr indent="0" marL="0">
              <a:buNone/>
            </a:pPr>
            <a:r>
              <a:rPr lang="en-US" sz="28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もたらすもの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600200"/>
            <a:ext cx="2487168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600200"/>
            <a:ext cx="2304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MUSINSAの課題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990088" y="1600200"/>
            <a:ext cx="3273552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3081528" y="1600200"/>
            <a:ext cx="3090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KIREIが解決する方法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355080" y="1600200"/>
            <a:ext cx="2194560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6002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期待効果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1984248"/>
            <a:ext cx="248716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90088" y="1984248"/>
            <a:ext cx="3273552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55080" y="1984248"/>
            <a:ext cx="21945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029968"/>
            <a:ext cx="23042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色ミスマッチによる返品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081528" y="2029968"/>
            <a:ext cx="30906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ARバーチャル体験で購入前に確認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46520" y="2029968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返品率低下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2551176"/>
            <a:ext cx="2487168" cy="530352"/>
          </a:xfrm>
          <a:prstGeom prst="rect">
            <a:avLst/>
          </a:prstGeom>
          <a:solidFill>
            <a:srgbClr val="F7F4FD"/>
          </a:solidFill>
          <a:ln w="12700">
            <a:solidFill>
              <a:srgbClr val="DDD5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90088" y="2551176"/>
            <a:ext cx="3273552" cy="530352"/>
          </a:xfrm>
          <a:prstGeom prst="rect">
            <a:avLst/>
          </a:prstGeom>
          <a:solidFill>
            <a:srgbClr val="F7F4FD"/>
          </a:solidFill>
          <a:ln w="12700">
            <a:solidFill>
              <a:srgbClr val="DDD5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55080" y="2551176"/>
            <a:ext cx="2194560" cy="530352"/>
          </a:xfrm>
          <a:prstGeom prst="rect">
            <a:avLst/>
          </a:prstGeom>
          <a:solidFill>
            <a:srgbClr val="F7F4FD"/>
          </a:solidFill>
          <a:ln w="12700">
            <a:solidFill>
              <a:srgbClr val="DDD5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596896"/>
            <a:ext cx="23042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推薦の非個人化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081528" y="2596896"/>
            <a:ext cx="30906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パーソナルカラー×肌タイプでフィルタリング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46520" y="2596896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転換率向上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3118104"/>
            <a:ext cx="248716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90088" y="3118104"/>
            <a:ext cx="3273552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55080" y="3118104"/>
            <a:ext cx="21945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163824"/>
            <a:ext cx="23042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競合との差別化不足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081528" y="3163824"/>
            <a:ext cx="30906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AIビューティーミラーという独自体験価値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46520" y="3163824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ブランド差別化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11480" y="3685032"/>
            <a:ext cx="2487168" cy="530352"/>
          </a:xfrm>
          <a:prstGeom prst="rect">
            <a:avLst/>
          </a:prstGeom>
          <a:solidFill>
            <a:srgbClr val="F7F4FD"/>
          </a:solidFill>
          <a:ln w="12700">
            <a:solidFill>
              <a:srgbClr val="DDD5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990088" y="3685032"/>
            <a:ext cx="3273552" cy="530352"/>
          </a:xfrm>
          <a:prstGeom prst="rect">
            <a:avLst/>
          </a:prstGeom>
          <a:solidFill>
            <a:srgbClr val="F7F4FD"/>
          </a:solidFill>
          <a:ln w="12700">
            <a:solidFill>
              <a:srgbClr val="DDD5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55080" y="3685032"/>
            <a:ext cx="2194560" cy="530352"/>
          </a:xfrm>
          <a:prstGeom prst="rect">
            <a:avLst/>
          </a:prstGeom>
          <a:solidFill>
            <a:srgbClr val="F7F4FD"/>
          </a:solidFill>
          <a:ln w="12700">
            <a:solidFill>
              <a:srgbClr val="DDD5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3730752"/>
            <a:ext cx="23042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購買外の再訪動機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081528" y="3730752"/>
            <a:ext cx="30906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毎日開く鏡習慣 × キラリの対話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46520" y="3730752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DAU・滞在時間増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11480" y="4251960"/>
            <a:ext cx="248716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F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990088" y="4251960"/>
            <a:ext cx="3273552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F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55080" y="4251960"/>
            <a:ext cx="21945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F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4297680"/>
            <a:ext cx="23042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肌×購買データ不在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081528" y="4297680"/>
            <a:ext cx="30906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肌タイプ別購買傾向を匿名化集計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46520" y="429768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レコメンド精度向上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グローバル展開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8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韓国発信、</a:t>
            </a:r>
            <a:endParaRPr lang="en-US" sz="2800" dirty="0"/>
          </a:p>
          <a:p>
            <a:pPr indent="0" marL="0">
              <a:buNone/>
            </a:pPr>
            <a:r>
              <a:rPr lang="en-US" sz="28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K-beautyと共に世界へ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5361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MUSINSAとのパートナーシップを起点に、K-beautyのグローバル信頼性を背景に段階的に市場を拡大する。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965960"/>
            <a:ext cx="8321040" cy="777240"/>
          </a:xfrm>
          <a:prstGeom prst="rect">
            <a:avLst>
              <a:gd name="adj" fmla="val 11765"/>
            </a:avLst>
          </a:prstGeom>
          <a:solidFill>
            <a:srgbClr val="F7F4FD"/>
          </a:solidFill>
          <a:ln w="12700">
            <a:solidFill>
              <a:srgbClr val="DDD5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965960"/>
            <a:ext cx="54864" cy="7772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167128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1671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42416" y="2057400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韓国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42416" y="2386584"/>
            <a:ext cx="7406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MUSINSA公式アプリとして出時。パーソナルカラー文化が成熟した市場でコア体験を検証。開発費はMUSINSA負担。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412480" y="2221992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862072"/>
            <a:ext cx="8321040" cy="777240"/>
          </a:xfrm>
          <a:prstGeom prst="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DD5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2862072"/>
            <a:ext cx="54864" cy="77724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15" name="Shape 13"/>
          <p:cNvSpPr/>
          <p:nvPr/>
        </p:nvSpPr>
        <p:spPr>
          <a:xfrm>
            <a:off x="566928" y="3063240"/>
            <a:ext cx="365760" cy="36576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063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42416" y="295351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日本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42416" y="3282696"/>
            <a:ext cx="7406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韓国実績データを持って日本展開。K-beauty逆輸入の文脈でポジショニング。日本語UIは実装済み。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412480" y="3118104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3758184"/>
            <a:ext cx="8321040" cy="777240"/>
          </a:xfrm>
          <a:prstGeom prst="rect">
            <a:avLst>
              <a:gd name="adj" fmla="val 11765"/>
            </a:avLst>
          </a:prstGeom>
          <a:solidFill>
            <a:srgbClr val="F7F4FD"/>
          </a:solidFill>
          <a:ln w="12700">
            <a:solidFill>
              <a:srgbClr val="DDD5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3758184"/>
            <a:ext cx="54864" cy="777240"/>
          </a:xfrm>
          <a:prstGeom prst="rect">
            <a:avLst/>
          </a:prstGeom>
          <a:solidFill>
            <a:srgbClr val="92660A"/>
          </a:solidFill>
          <a:ln/>
        </p:spPr>
      </p:sp>
      <p:sp>
        <p:nvSpPr>
          <p:cNvPr id="22" name="Shape 20"/>
          <p:cNvSpPr/>
          <p:nvPr/>
        </p:nvSpPr>
        <p:spPr>
          <a:xfrm>
            <a:off x="566928" y="3959352"/>
            <a:ext cx="365760" cy="365760"/>
          </a:xfrm>
          <a:prstGeom prst="ellipse">
            <a:avLst/>
          </a:prstGeom>
          <a:solidFill>
            <a:srgbClr val="92660A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39593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42416" y="3849624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東南アジア・北米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42416" y="4178808"/>
            <a:ext cx="7406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K-beauty需要が高い市場（タイ・ベトナム・米国）へ拡張。英語UIは実装済み。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1480" y="4526280"/>
            <a:ext cx="8321040" cy="420624"/>
          </a:xfrm>
          <a:prstGeom prst="rect">
            <a:avLst>
              <a:gd name="adj" fmla="val 17391"/>
            </a:avLst>
          </a:prstGeom>
          <a:solidFill>
            <a:srgbClr val="EDE8FA"/>
          </a:solidFill>
          <a:ln w="12700">
            <a:solidFill>
              <a:srgbClr val="DDD5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" y="4526280"/>
            <a:ext cx="54864" cy="42062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4526280"/>
            <a:ext cx="7955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天気アプリは今日を知っているが顔を知らない。SNSはトレンドを知っているが肌を知らない。  KIREIは顔から逆算する。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技術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8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既に動いている。</a:t>
            </a:r>
            <a:endParaRPr lang="en-US" sz="2800" dirty="0"/>
          </a:p>
          <a:p>
            <a:pPr indent="0" marL="0">
              <a:buNone/>
            </a:pPr>
            <a:r>
              <a:rPr lang="en-US" sz="28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低い統合コスト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600200"/>
            <a:ext cx="4069080" cy="1664208"/>
          </a:xfrm>
          <a:prstGeom prst="rect">
            <a:avLst>
              <a:gd name="adj" fmla="val 5495"/>
            </a:avLst>
          </a:prstGeom>
          <a:solidFill>
            <a:srgbClr val="F7F4FD"/>
          </a:solidFill>
          <a:ln w="12700">
            <a:solidFill>
              <a:srgbClr val="DDD5F5"/>
            </a:solidFill>
            <a:prstDash val="solid"/>
          </a:ln>
          <a:effectLst>
            <a:outerShdw sx="100000" sy="100000" kx="0" ky="0" algn="bl" rotWithShape="0" blurRad="76200" dist="25400" dir="8100000">
              <a:srgbClr val="4B407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600200"/>
            <a:ext cx="406908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Shape 5"/>
          <p:cNvSpPr/>
          <p:nvPr/>
        </p:nvSpPr>
        <p:spPr>
          <a:xfrm>
            <a:off x="576072" y="1783080"/>
            <a:ext cx="274320" cy="274320"/>
          </a:xfrm>
          <a:prstGeom prst="ellipse">
            <a:avLst/>
          </a:prstGeom>
          <a:solidFill>
            <a:srgbClr val="7C3AED">
              <a:alpha val="3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41832" y="1737360"/>
            <a:ext cx="34107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AI肌分析  ✓ 実装済み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6072" y="2194560"/>
            <a:ext cx="3776472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B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FaceLandmarker（468点）によるリアルタイム肌分析。ブラウザ内推論でサーバーコストなし。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600200"/>
            <a:ext cx="4069080" cy="1664208"/>
          </a:xfrm>
          <a:prstGeom prst="rect">
            <a:avLst>
              <a:gd name="adj" fmla="val 5495"/>
            </a:avLst>
          </a:prstGeom>
          <a:solidFill>
            <a:srgbClr val="F7F4FD"/>
          </a:solidFill>
          <a:ln w="12700">
            <a:solidFill>
              <a:srgbClr val="DDD5F5"/>
            </a:solidFill>
            <a:prstDash val="solid"/>
          </a:ln>
          <a:effectLst>
            <a:outerShdw sx="100000" sy="100000" kx="0" ky="0" algn="bl" rotWithShape="0" blurRad="76200" dist="25400" dir="8100000">
              <a:srgbClr val="4B407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600200"/>
            <a:ext cx="4069080" cy="45720"/>
          </a:xfrm>
          <a:prstGeom prst="rect">
            <a:avLst/>
          </a:prstGeom>
          <a:solidFill>
            <a:srgbClr val="C026D3"/>
          </a:solidFill>
          <a:ln/>
        </p:spPr>
      </p:sp>
      <p:sp>
        <p:nvSpPr>
          <p:cNvPr id="12" name="Shape 10"/>
          <p:cNvSpPr/>
          <p:nvPr/>
        </p:nvSpPr>
        <p:spPr>
          <a:xfrm>
            <a:off x="4828032" y="1783080"/>
            <a:ext cx="274320" cy="274320"/>
          </a:xfrm>
          <a:prstGeom prst="ellipse">
            <a:avLst/>
          </a:prstGeom>
          <a:solidFill>
            <a:srgbClr val="C026D3">
              <a:alpha val="3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193792" y="1737360"/>
            <a:ext cx="34107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ARメイク  ✓ 実装済み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28032" y="2194560"/>
            <a:ext cx="3776472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B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リップ・チーク・アイシャドウ・ファンデ・眉・コンシーラーをリアルタイム合成。マルチブレンド対応。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3410712"/>
            <a:ext cx="4069080" cy="1664208"/>
          </a:xfrm>
          <a:prstGeom prst="rect">
            <a:avLst>
              <a:gd name="adj" fmla="val 5495"/>
            </a:avLst>
          </a:prstGeom>
          <a:solidFill>
            <a:srgbClr val="F7F4FD"/>
          </a:solidFill>
          <a:ln w="12700">
            <a:solidFill>
              <a:srgbClr val="DDD5F5"/>
            </a:solidFill>
            <a:prstDash val="solid"/>
          </a:ln>
          <a:effectLst>
            <a:outerShdw sx="100000" sy="100000" kx="0" ky="0" algn="bl" rotWithShape="0" blurRad="76200" dist="25400" dir="8100000">
              <a:srgbClr val="4B407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3410712"/>
            <a:ext cx="4069080" cy="457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17" name="Shape 15"/>
          <p:cNvSpPr/>
          <p:nvPr/>
        </p:nvSpPr>
        <p:spPr>
          <a:xfrm>
            <a:off x="576072" y="3593592"/>
            <a:ext cx="274320" cy="274320"/>
          </a:xfrm>
          <a:prstGeom prst="ellipse">
            <a:avLst/>
          </a:prstGeom>
          <a:solidFill>
            <a:srgbClr val="047857">
              <a:alpha val="3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941832" y="3547872"/>
            <a:ext cx="34107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多言語対応  ✓ 実装済み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76072" y="4005072"/>
            <a:ext cx="3776472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B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韓国語・日本語・英語のi18n実装済み。キラリのセリフも3言語対応。追加言語はテキスト追加のみ。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3410712"/>
            <a:ext cx="4069080" cy="1664208"/>
          </a:xfrm>
          <a:prstGeom prst="rect">
            <a:avLst>
              <a:gd name="adj" fmla="val 5495"/>
            </a:avLst>
          </a:prstGeom>
          <a:solidFill>
            <a:srgbClr val="F7F4FD"/>
          </a:solidFill>
          <a:ln w="12700">
            <a:solidFill>
              <a:srgbClr val="DDD5F5"/>
            </a:solidFill>
            <a:prstDash val="solid"/>
          </a:ln>
          <a:effectLst>
            <a:outerShdw sx="100000" sy="100000" kx="0" ky="0" algn="bl" rotWithShape="0" blurRad="76200" dist="25400" dir="8100000">
              <a:srgbClr val="4B407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3410712"/>
            <a:ext cx="4069080" cy="45720"/>
          </a:xfrm>
          <a:prstGeom prst="rect">
            <a:avLst/>
          </a:prstGeom>
          <a:solidFill>
            <a:srgbClr val="92660A"/>
          </a:solidFill>
          <a:ln/>
        </p:spPr>
      </p:sp>
      <p:sp>
        <p:nvSpPr>
          <p:cNvPr id="22" name="Shape 20"/>
          <p:cNvSpPr/>
          <p:nvPr/>
        </p:nvSpPr>
        <p:spPr>
          <a:xfrm>
            <a:off x="4828032" y="3593592"/>
            <a:ext cx="274320" cy="274320"/>
          </a:xfrm>
          <a:prstGeom prst="ellipse">
            <a:avLst/>
          </a:prstGeom>
          <a:solidFill>
            <a:srgbClr val="92660A">
              <a:alpha val="3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193792" y="3547872"/>
            <a:ext cx="34107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MUSINSA連携設計完了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28032" y="4005072"/>
            <a:ext cx="3776472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B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パーソナルカラーをMUSINSA検索クエリに自動変換するロジック設計済み。会員ID連携スキーマ準備中。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提案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8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MUSINSA公式</a:t>
            </a:r>
            <a:endParaRPr lang="en-US" sz="2800" dirty="0"/>
          </a:p>
          <a:p>
            <a:pPr indent="0" marL="0">
              <a:buNone/>
            </a:pPr>
            <a:r>
              <a:rPr lang="en-US" sz="28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AIビューティーパートナーとして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53619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B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KIREIは単独でも成立するが、MUSINSAと共に始めれば最初から数百万人のユーザー基盤でスタートできる。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2029968"/>
            <a:ext cx="2651760" cy="1664208"/>
          </a:xfrm>
          <a:prstGeom prst="rect">
            <a:avLst>
              <a:gd name="adj" fmla="val 5495"/>
            </a:avLst>
          </a:prstGeom>
          <a:solidFill>
            <a:srgbClr val="F7F4FD"/>
          </a:solidFill>
          <a:ln w="12700">
            <a:solidFill>
              <a:srgbClr val="DDD5F5"/>
            </a:solidFill>
            <a:prstDash val="solid"/>
          </a:ln>
          <a:effectLst>
            <a:outerShdw sx="100000" sy="100000" kx="0" ky="0" algn="bl" rotWithShape="0" blurRad="76200" dist="25400" dir="8100000">
              <a:srgbClr val="4B407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2029968"/>
            <a:ext cx="265176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" y="2157984"/>
            <a:ext cx="274320" cy="274320"/>
          </a:xfrm>
          <a:prstGeom prst="ellipse">
            <a:avLst/>
          </a:prstGeom>
          <a:solidFill>
            <a:srgbClr val="7C3AED">
              <a:alpha val="3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76072" y="2560320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共同開発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6072" y="2944368"/>
            <a:ext cx="23957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B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MUSINSAの開発費支援で公式アプリを共に完成。技術はKIREI、プラットフォーム・データはMUSINSA。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82696" y="2029968"/>
            <a:ext cx="2651760" cy="1664208"/>
          </a:xfrm>
          <a:prstGeom prst="rect">
            <a:avLst>
              <a:gd name="adj" fmla="val 5495"/>
            </a:avLst>
          </a:prstGeom>
          <a:solidFill>
            <a:srgbClr val="F7F4FD"/>
          </a:solidFill>
          <a:ln w="12700">
            <a:solidFill>
              <a:srgbClr val="DDD5F5"/>
            </a:solidFill>
            <a:prstDash val="solid"/>
          </a:ln>
          <a:effectLst>
            <a:outerShdw sx="100000" sy="100000" kx="0" ky="0" algn="bl" rotWithShape="0" blurRad="76200" dist="25400" dir="8100000">
              <a:srgbClr val="4B407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82696" y="2029968"/>
            <a:ext cx="2651760" cy="45720"/>
          </a:xfrm>
          <a:prstGeom prst="rect">
            <a:avLst/>
          </a:prstGeom>
          <a:solidFill>
            <a:srgbClr val="C026D3"/>
          </a:solidFill>
          <a:ln/>
        </p:spPr>
      </p:sp>
      <p:sp>
        <p:nvSpPr>
          <p:cNvPr id="14" name="Shape 12"/>
          <p:cNvSpPr/>
          <p:nvPr/>
        </p:nvSpPr>
        <p:spPr>
          <a:xfrm>
            <a:off x="3447288" y="2157984"/>
            <a:ext cx="274320" cy="274320"/>
          </a:xfrm>
          <a:prstGeom prst="ellipse">
            <a:avLst/>
          </a:prstGeom>
          <a:solidFill>
            <a:srgbClr val="C026D3">
              <a:alpha val="3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447288" y="2560320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公式アプリリリース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47288" y="2944368"/>
            <a:ext cx="23957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B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「MUSINSA × KIREI」として韓国iOS/Androidリリース。MUSINSAアプリ内統合も検討可能。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53912" y="2029968"/>
            <a:ext cx="2651760" cy="1664208"/>
          </a:xfrm>
          <a:prstGeom prst="rect">
            <a:avLst>
              <a:gd name="adj" fmla="val 5495"/>
            </a:avLst>
          </a:prstGeom>
          <a:solidFill>
            <a:srgbClr val="F7F4FD"/>
          </a:solidFill>
          <a:ln w="12700">
            <a:solidFill>
              <a:srgbClr val="DDD5F5"/>
            </a:solidFill>
            <a:prstDash val="solid"/>
          </a:ln>
          <a:effectLst>
            <a:outerShdw sx="100000" sy="100000" kx="0" ky="0" algn="bl" rotWithShape="0" blurRad="76200" dist="25400" dir="8100000">
              <a:srgbClr val="4B407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53912" y="2029968"/>
            <a:ext cx="2651760" cy="457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19" name="Shape 17"/>
          <p:cNvSpPr/>
          <p:nvPr/>
        </p:nvSpPr>
        <p:spPr>
          <a:xfrm>
            <a:off x="6318504" y="2157984"/>
            <a:ext cx="274320" cy="274320"/>
          </a:xfrm>
          <a:prstGeom prst="ellipse">
            <a:avLst/>
          </a:prstGeom>
          <a:solidFill>
            <a:srgbClr val="047857">
              <a:alpha val="3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318504" y="2560320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データパートナーシップ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18504" y="2944368"/>
            <a:ext cx="23957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B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匿名化された肌×購買データを両社で活用。MUSINSAの推薦精度向上に直接貢献。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480" y="3822192"/>
            <a:ext cx="8321040" cy="1005840"/>
          </a:xfrm>
          <a:prstGeom prst="rect">
            <a:avLst>
              <a:gd name="adj" fmla="val 9091"/>
            </a:avLst>
          </a:prstGeom>
          <a:solidFill>
            <a:srgbClr val="EDE8FA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3822192"/>
            <a:ext cx="54864" cy="10058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389534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94360" y="4133088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sashibe.github.io/kirei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94360" y="4535424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実際に動作するARメイク・肌分析体験をご確認ください。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2026-04-06T03:02:08Z</dcterms:created>
  <dcterms:modified xsi:type="dcterms:W3CDTF">2026-04-06T03:02:08Z</dcterms:modified>
</cp:coreProperties>
</file>